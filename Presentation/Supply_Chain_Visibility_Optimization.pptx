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03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6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931920"/>
            <a:ext cx="5486400" cy="5486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-1600200" y="-1805939"/>
            <a:ext cx="3657600" cy="36576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4543"/>
            <a:ext cx="9601200" cy="1417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latin typeface="Georgia" pitchFamily="34" charset="0"/>
              </a:rPr>
              <a:t>Supply Chain Visibility System with Optimization Analytics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1"/>
            <a:ext cx="8686800" cy="502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Logistics Dashboard using Power BI</a:t>
            </a:r>
            <a:endParaRPr lang="en-US" sz="1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177665"/>
            <a:ext cx="2406014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88480B0-0E67-E5E6-AC05-803A2ECE1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2A73D4-94BA-9A55-591D-F2AA551D0A9F}"/>
              </a:ext>
            </a:extLst>
          </p:cNvPr>
          <p:cNvSpPr txBox="1"/>
          <p:nvPr/>
        </p:nvSpPr>
        <p:spPr>
          <a:xfrm>
            <a:off x="9915525" y="184452"/>
            <a:ext cx="2054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348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ppt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47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Challenges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centralized supply chain monitoring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inventory visibility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deliveries and order fulfillment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transportation and logistics costs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evaluating supplier performance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warehouse utilization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business decision-making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4434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 6"/>
          <p:cNvSpPr/>
          <p:nvPr/>
        </p:nvSpPr>
        <p:spPr>
          <a:xfrm>
            <a:off x="7107478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Consequence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0" y="27889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fragmented processes and visibility gaps create a compounding negative effect across the entire business ecosystem.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583680" y="3931920"/>
            <a:ext cx="47091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challenges actively increase operational costs, significantly reduce internal efficiency, and directly hurt end-customer satisfaction.</a:t>
            </a:r>
            <a:endParaRPr lang="en-US" sz="13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</a:rPr>
              <a:t>2</a:t>
            </a:r>
            <a:endParaRPr lang="en-US" sz="900" dirty="0"/>
          </a:p>
        </p:txBody>
      </p:sp>
      <p:sp>
        <p:nvSpPr>
          <p:cNvPr id="1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Georgia" pitchFamily="34" charset="0"/>
              </a:rPr>
              <a:t>Infosys Springboard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5BFAED3E-8DEC-290E-A345-05C6ED071BBD}"/>
              </a:ext>
            </a:extLst>
          </p:cNvPr>
          <p:cNvSpPr/>
          <p:nvPr/>
        </p:nvSpPr>
        <p:spPr>
          <a:xfrm>
            <a:off x="6583680" y="1734296"/>
            <a:ext cx="479602" cy="615693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0" name="Image 3" descr="/home/claude/ppt/icons/star.png">
            <a:extLst>
              <a:ext uri="{FF2B5EF4-FFF2-40B4-BE49-F238E27FC236}">
                <a16:creationId xmlns:a16="http://schemas.microsoft.com/office/drawing/2014/main" id="{01CE2269-5F51-0182-5D5A-80C1239D2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36" y="1839452"/>
            <a:ext cx="355108" cy="355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supply chains generate massive amounts of operational data — from procurement and inventory to transportation, suppliers, warehouses, and deliveries. Organizations often struggle to monitor these moving parts because the data is fragmented and visibility stays limited to individual teams.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6492240" cy="2377440"/>
          </a:xfrm>
          <a:prstGeom prst="rect">
            <a:avLst/>
          </a:prstGeom>
          <a:solidFill>
            <a:srgbClr val="E7F4F2"/>
          </a:solidFill>
          <a:ln/>
        </p:spPr>
      </p:sp>
      <p:pic>
        <p:nvPicPr>
          <p:cNvPr id="6" name="Image 0" descr="/home/claude/ppt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develops an interactive Power BI dashboard that integrates supply chain data into a single platform — enabling real-time monitoring, KPI tracking, and data-driven decision-making across the entire logistics network.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1600200"/>
            <a:ext cx="425196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7830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</a:rPr>
              <a:t>5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052560" y="1783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Data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60920" y="3291840"/>
            <a:ext cx="425196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4747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05256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Power BI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60920" y="4983480"/>
            <a:ext cx="425196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516636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52560" y="5166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</a:rPr>
              <a:t>3</a:t>
            </a:r>
            <a:endParaRPr lang="en-US" sz="900" dirty="0"/>
          </a:p>
        </p:txBody>
      </p:sp>
      <p:sp>
        <p:nvSpPr>
          <p:cNvPr id="20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primary goal is to establish a single source of truth for global logistics operations.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7" name="Image 0" descr="/home/claude/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240944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80360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an end-to-end, highly interactive Power BI dashboard.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28416" y="2103120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9584" y="2304288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11" name="Image 1" descr="/home/claude/pp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40944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880360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inventory visibility and control mechanisms.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08192" y="2103120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2304288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15" name="Image 2" descr="/home/claude/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240944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880360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delivery performance and fulfillment rates in real time.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887968" y="2103120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089136" y="2304288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19" name="Image 3" descr="/home/claude/ppt/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292" y="2409444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89136" y="2880360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supplier reliability and establish accurate rankings.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178808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4379976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3" name="Image 4" descr="/home/claude/ppt/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4485132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4956048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transportation costs and route efficiency globally.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328416" y="4178808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529584" y="4379976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7" name="Image 5" descr="/home/claude/ppt/icons/warehou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4740" y="4485132"/>
            <a:ext cx="246888" cy="2468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9584" y="4956048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warehouse utilization and storage capacity.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108192" y="4178808"/>
            <a:ext cx="2560320" cy="18745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30" name="Shape 22"/>
          <p:cNvSpPr/>
          <p:nvPr/>
        </p:nvSpPr>
        <p:spPr>
          <a:xfrm>
            <a:off x="6309360" y="4379976"/>
            <a:ext cx="457200" cy="457200"/>
          </a:xfrm>
          <a:prstGeom prst="ellipse">
            <a:avLst/>
          </a:prstGeom>
          <a:solidFill>
            <a:srgbClr val="1F8478"/>
          </a:solidFill>
          <a:ln/>
        </p:spPr>
      </p:sp>
      <p:pic>
        <p:nvPicPr>
          <p:cNvPr id="31" name="Image 6" descr="/home/claude/ppt/icons/chart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4516" y="4485132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4956048"/>
            <a:ext cx="2157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faster, data-driven decisions at the executive level.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Tooling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6" name="Image 0" descr="/home/claude/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DATASET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13639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DataCoSupplyChainDataset</a:t>
            </a: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(Kaggle)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4005834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Includes orders, product, customer, shipment, delivery status and geographic location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42062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1" descr="/home/claude/ppt/icons/gear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1671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834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</a:rPr>
              <a:t>TOOLS USED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Microsoft Power BI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72000" y="4005834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 for ETL, DAX for calculated measures and CSV files as the raw data source.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2044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18" name="Image 2" descr="/home/claude/ppt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1671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834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DATASET?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32104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Relevance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21040" y="4005834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Comprehensive, real-world logistics and supply chain data — perfectly suited for deep, end-to-end analytics.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114800"/>
          </a:xfrm>
          <a:prstGeom prst="rect">
            <a:avLst/>
          </a:prstGeom>
          <a:solidFill>
            <a:srgbClr val="1F1F1F"/>
          </a:solidFill>
          <a:ln w="12700">
            <a:solidFill>
              <a:srgbClr val="E3E7EB"/>
            </a:solidFill>
            <a:prstDash val="solid"/>
          </a:ln>
        </p:spPr>
      </p:sp>
      <p:pic>
        <p:nvPicPr>
          <p:cNvPr id="5" name="Image 0" descr="/home/claude/ppt/shots/data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7743"/>
            <a:ext cx="6675120" cy="3222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91640"/>
            <a:ext cx="402336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98424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 Table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9560" y="2377439"/>
            <a:ext cx="3520440" cy="1636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 Table: </a:t>
            </a:r>
            <a:r>
              <a:rPr lang="en-US" sz="12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Orders, Sales, Quantity, Profit, Shipping Information, Customer, Product, Category, Department, Shipping, Location, Date.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3941064"/>
            <a:ext cx="342900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43159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Benefits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46634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Significantly faster reporting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DAX query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and accurate KPI calculations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scalability for future data loads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Georgia" pitchFamily="34" charset="0"/>
              </a:rPr>
              <a:t>Infosys Springboard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43BD54-B523-C997-1E50-0D2E547DE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691640"/>
            <a:ext cx="71323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012371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43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050" dirty="0"/>
          </a:p>
        </p:txBody>
      </p:sp>
      <p:pic>
        <p:nvPicPr>
          <p:cNvPr id="8" name="Image 1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167" y="2912364"/>
            <a:ext cx="164592" cy="164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52759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6"/>
          <p:cNvSpPr/>
          <p:nvPr/>
        </p:nvSpPr>
        <p:spPr>
          <a:xfrm>
            <a:off x="2616490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/home/claude/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362" y="23317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25911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</a:t>
            </a:r>
            <a:endParaRPr lang="en-US" sz="1050" dirty="0"/>
          </a:p>
        </p:txBody>
      </p:sp>
      <p:pic>
        <p:nvPicPr>
          <p:cNvPr id="13" name="Image 3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6" y="2912364"/>
            <a:ext cx="164592" cy="1645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56878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9"/>
          <p:cNvSpPr/>
          <p:nvPr/>
        </p:nvSpPr>
        <p:spPr>
          <a:xfrm>
            <a:off x="4220609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4" descr="/home/claude/ppt/icons/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9481" y="233172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30030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050" dirty="0"/>
          </a:p>
        </p:txBody>
      </p:sp>
      <p:pic>
        <p:nvPicPr>
          <p:cNvPr id="18" name="Image 5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405" y="2912364"/>
            <a:ext cx="164592" cy="16459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360997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2"/>
          <p:cNvSpPr/>
          <p:nvPr/>
        </p:nvSpPr>
        <p:spPr>
          <a:xfrm>
            <a:off x="5824728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6" descr="/home/claude/ppt/icons/layer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33172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34149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Modeling</a:t>
            </a:r>
            <a:endParaRPr lang="en-US" sz="1050" dirty="0"/>
          </a:p>
        </p:txBody>
      </p:sp>
      <p:pic>
        <p:nvPicPr>
          <p:cNvPr id="23" name="Image 7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23" y="2912364"/>
            <a:ext cx="164592" cy="16459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965115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15"/>
          <p:cNvSpPr/>
          <p:nvPr/>
        </p:nvSpPr>
        <p:spPr>
          <a:xfrm>
            <a:off x="7428847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8" descr="/home/claude/ppt/icons/calcula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719" y="2331720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038267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Measures &amp; KPIs</a:t>
            </a:r>
            <a:endParaRPr lang="en-US" sz="1050" dirty="0"/>
          </a:p>
        </p:txBody>
      </p:sp>
      <p:pic>
        <p:nvPicPr>
          <p:cNvPr id="28" name="Image 9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642" y="2912364"/>
            <a:ext cx="164592" cy="16459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569234" y="2011680"/>
            <a:ext cx="1439527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Shape 18"/>
          <p:cNvSpPr/>
          <p:nvPr/>
        </p:nvSpPr>
        <p:spPr>
          <a:xfrm>
            <a:off x="9032966" y="22128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10" descr="/home/claude/ppt/icons/lap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838" y="2331720"/>
            <a:ext cx="274320" cy="2743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642386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1050" dirty="0"/>
          </a:p>
        </p:txBody>
      </p:sp>
      <p:pic>
        <p:nvPicPr>
          <p:cNvPr id="33" name="Image 11" descr="/home/claude/ppt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761" y="2912364"/>
            <a:ext cx="164592" cy="164592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173353" y="2011680"/>
            <a:ext cx="1439527" cy="196596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5" name="Shape 21"/>
          <p:cNvSpPr/>
          <p:nvPr/>
        </p:nvSpPr>
        <p:spPr>
          <a:xfrm>
            <a:off x="10637085" y="2212848"/>
            <a:ext cx="512064" cy="512064"/>
          </a:xfrm>
          <a:prstGeom prst="ellipse">
            <a:avLst/>
          </a:prstGeom>
          <a:solidFill>
            <a:srgbClr val="1F8478"/>
          </a:solidFill>
          <a:ln/>
        </p:spPr>
      </p:sp>
      <p:pic>
        <p:nvPicPr>
          <p:cNvPr id="36" name="Image 12" descr="/home/claude/ppt/icons/brain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5957" y="2331720"/>
            <a:ext cx="274320" cy="27432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0246505" y="2880360"/>
            <a:ext cx="12932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 &amp; Decisions</a:t>
            </a:r>
            <a:endParaRPr lang="en-US" sz="1050" dirty="0"/>
          </a:p>
        </p:txBody>
      </p:sp>
      <p:sp>
        <p:nvSpPr>
          <p:cNvPr id="38" name="Shape 23"/>
          <p:cNvSpPr/>
          <p:nvPr/>
        </p:nvSpPr>
        <p:spPr>
          <a:xfrm>
            <a:off x="548640" y="4343400"/>
            <a:ext cx="110642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9" name="Text 24"/>
          <p:cNvSpPr/>
          <p:nvPr/>
        </p:nvSpPr>
        <p:spPr>
          <a:xfrm>
            <a:off x="868680" y="447865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41" name="Text 25"/>
          <p:cNvSpPr/>
          <p:nvPr/>
        </p:nvSpPr>
        <p:spPr>
          <a:xfrm>
            <a:off x="1252728" y="49514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Filters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3" name="Text 26"/>
          <p:cNvSpPr/>
          <p:nvPr/>
        </p:nvSpPr>
        <p:spPr>
          <a:xfrm>
            <a:off x="4000500" y="4954143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Drill-Through Reports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 27"/>
          <p:cNvSpPr/>
          <p:nvPr/>
        </p:nvSpPr>
        <p:spPr>
          <a:xfrm>
            <a:off x="7065209" y="49789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Cards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7" name="Text 28"/>
          <p:cNvSpPr/>
          <p:nvPr/>
        </p:nvSpPr>
        <p:spPr>
          <a:xfrm>
            <a:off x="9345168" y="4954143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Analysis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CDC5826C-B7BD-8D00-05B5-A0F874C8762F}"/>
              </a:ext>
            </a:extLst>
          </p:cNvPr>
          <p:cNvSpPr/>
          <p:nvPr/>
        </p:nvSpPr>
        <p:spPr>
          <a:xfrm>
            <a:off x="749482" y="484632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2" name="Image 6" descr="/home/claude/ppt/icons/filter.png">
            <a:extLst>
              <a:ext uri="{FF2B5EF4-FFF2-40B4-BE49-F238E27FC236}">
                <a16:creationId xmlns:a16="http://schemas.microsoft.com/office/drawing/2014/main" id="{4D1AED94-1A7F-BB07-53DA-B74F1FA000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358" y="4988052"/>
            <a:ext cx="219456" cy="219456"/>
          </a:xfrm>
          <a:prstGeom prst="rect">
            <a:avLst/>
          </a:prstGeom>
        </p:spPr>
      </p:pic>
      <p:sp>
        <p:nvSpPr>
          <p:cNvPr id="53" name="Shape 20">
            <a:extLst>
              <a:ext uri="{FF2B5EF4-FFF2-40B4-BE49-F238E27FC236}">
                <a16:creationId xmlns:a16="http://schemas.microsoft.com/office/drawing/2014/main" id="{028C09D1-3841-F824-EF5A-772263ED0569}"/>
              </a:ext>
            </a:extLst>
          </p:cNvPr>
          <p:cNvSpPr/>
          <p:nvPr/>
        </p:nvSpPr>
        <p:spPr>
          <a:xfrm>
            <a:off x="3472434" y="484632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4" name="Image 7" descr="/home/claude/ppt/icons/chartW.png">
            <a:extLst>
              <a:ext uri="{FF2B5EF4-FFF2-40B4-BE49-F238E27FC236}">
                <a16:creationId xmlns:a16="http://schemas.microsoft.com/office/drawing/2014/main" id="{9A739054-5F01-04BF-40CC-8BAD9E6794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3310" y="4988052"/>
            <a:ext cx="219456" cy="219456"/>
          </a:xfrm>
          <a:prstGeom prst="rect">
            <a:avLst/>
          </a:prstGeom>
        </p:spPr>
      </p:pic>
      <p:sp>
        <p:nvSpPr>
          <p:cNvPr id="57" name="Shape 22">
            <a:extLst>
              <a:ext uri="{FF2B5EF4-FFF2-40B4-BE49-F238E27FC236}">
                <a16:creationId xmlns:a16="http://schemas.microsoft.com/office/drawing/2014/main" id="{B06AC756-6234-95E8-8380-405AA30BF355}"/>
              </a:ext>
            </a:extLst>
          </p:cNvPr>
          <p:cNvSpPr/>
          <p:nvPr/>
        </p:nvSpPr>
        <p:spPr>
          <a:xfrm>
            <a:off x="8877137" y="4846320"/>
            <a:ext cx="457200" cy="457200"/>
          </a:xfrm>
          <a:prstGeom prst="ellipse">
            <a:avLst/>
          </a:prstGeom>
          <a:solidFill>
            <a:srgbClr val="1F8478"/>
          </a:solidFill>
          <a:ln/>
        </p:spPr>
      </p:sp>
      <p:pic>
        <p:nvPicPr>
          <p:cNvPr id="58" name="Image 6" descr="/home/claude/ppt/icons/chartW.png">
            <a:extLst>
              <a:ext uri="{FF2B5EF4-FFF2-40B4-BE49-F238E27FC236}">
                <a16:creationId xmlns:a16="http://schemas.microsoft.com/office/drawing/2014/main" id="{2FDCCE5C-021B-7271-C543-C5BAE59DEC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82293" y="4951476"/>
            <a:ext cx="246888" cy="246888"/>
          </a:xfrm>
          <a:prstGeom prst="rect">
            <a:avLst/>
          </a:prstGeom>
        </p:spPr>
      </p:pic>
      <p:sp>
        <p:nvSpPr>
          <p:cNvPr id="59" name="Shape 22">
            <a:extLst>
              <a:ext uri="{FF2B5EF4-FFF2-40B4-BE49-F238E27FC236}">
                <a16:creationId xmlns:a16="http://schemas.microsoft.com/office/drawing/2014/main" id="{13A8B6B3-EB18-4868-4E93-7270889E568E}"/>
              </a:ext>
            </a:extLst>
          </p:cNvPr>
          <p:cNvSpPr/>
          <p:nvPr/>
        </p:nvSpPr>
        <p:spPr>
          <a:xfrm>
            <a:off x="6552437" y="484632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0" name="Image 8" descr="/home/claude/ppt/icons/gridW.png">
            <a:extLst>
              <a:ext uri="{FF2B5EF4-FFF2-40B4-BE49-F238E27FC236}">
                <a16:creationId xmlns:a16="http://schemas.microsoft.com/office/drawing/2014/main" id="{052F01C6-A9E6-28C1-08E1-3A5C10BFEB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3313" y="498805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87552" y="4663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4434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100" dirty="0"/>
          </a:p>
        </p:txBody>
      </p:sp>
      <p:pic>
        <p:nvPicPr>
          <p:cNvPr id="6" name="Image 0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28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396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Turnover Ratio</a:t>
            </a:r>
            <a:endParaRPr lang="en-US" sz="1250" dirty="0"/>
          </a:p>
        </p:txBody>
      </p:sp>
      <p:pic>
        <p:nvPicPr>
          <p:cNvPr id="8" name="Image 1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61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883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Inventory Value</a:t>
            </a:r>
            <a:endParaRPr lang="en-US" sz="1250" dirty="0"/>
          </a:p>
        </p:txBody>
      </p:sp>
      <p:pic>
        <p:nvPicPr>
          <p:cNvPr id="10" name="Image 2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012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2369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Stock Identification</a:t>
            </a:r>
            <a:endParaRPr lang="en-US" sz="1250" dirty="0"/>
          </a:p>
        </p:txBody>
      </p:sp>
      <p:pic>
        <p:nvPicPr>
          <p:cNvPr id="12" name="Image 3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587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78561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Moving Products</a:t>
            </a:r>
            <a:endParaRPr lang="en-US" sz="1250" dirty="0"/>
          </a:p>
        </p:txBody>
      </p:sp>
      <p:pic>
        <p:nvPicPr>
          <p:cNvPr id="14" name="Image 4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43342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Moving Products</a:t>
            </a:r>
            <a:endParaRPr lang="en-US" sz="1250" dirty="0"/>
          </a:p>
        </p:txBody>
      </p:sp>
      <p:pic>
        <p:nvPicPr>
          <p:cNvPr id="16" name="Image 5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560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48828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Reorder Status &amp; Alerts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901184" y="1600200"/>
            <a:ext cx="6720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892040" y="5029200"/>
            <a:ext cx="6720840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3" name="Text 13"/>
          <p:cNvSpPr/>
          <p:nvPr/>
        </p:nvSpPr>
        <p:spPr>
          <a:xfrm>
            <a:off x="553212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Georgia" pitchFamily="34" charset="0"/>
              </a:rPr>
              <a:t>Business Benefit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138928" y="5486400"/>
            <a:ext cx="647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Improves overall inventory planning and significantly reduces excess stock while ensuring high product availability for customers.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32FFD0-1C7F-3D14-6924-758F44F3D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600200"/>
            <a:ext cx="6711696" cy="3246120"/>
          </a:xfrm>
          <a:prstGeom prst="rect">
            <a:avLst/>
          </a:prstGeom>
        </p:spPr>
      </p:pic>
      <p:sp>
        <p:nvSpPr>
          <p:cNvPr id="20" name="Shape 13">
            <a:extLst>
              <a:ext uri="{FF2B5EF4-FFF2-40B4-BE49-F238E27FC236}">
                <a16:creationId xmlns:a16="http://schemas.microsoft.com/office/drawing/2014/main" id="{B95F85E8-ED54-608B-29B4-8B180671B305}"/>
              </a:ext>
            </a:extLst>
          </p:cNvPr>
          <p:cNvSpPr/>
          <p:nvPr/>
        </p:nvSpPr>
        <p:spPr>
          <a:xfrm>
            <a:off x="5138928" y="5074920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2" name="Image 3" descr="/home/claude/ppt/icons/star.png">
            <a:extLst>
              <a:ext uri="{FF2B5EF4-FFF2-40B4-BE49-F238E27FC236}">
                <a16:creationId xmlns:a16="http://schemas.microsoft.com/office/drawing/2014/main" id="{D440458D-27D8-D959-58C2-E102B6436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84" y="5180076"/>
            <a:ext cx="246888" cy="246888"/>
          </a:xfrm>
          <a:prstGeom prst="rect">
            <a:avLst/>
          </a:prstGeom>
        </p:spPr>
      </p:pic>
      <p:sp>
        <p:nvSpPr>
          <p:cNvPr id="2" name="Shape 7">
            <a:extLst>
              <a:ext uri="{FF2B5EF4-FFF2-40B4-BE49-F238E27FC236}">
                <a16:creationId xmlns:a16="http://schemas.microsoft.com/office/drawing/2014/main" id="{25DDBB01-0ABC-3036-26DF-7B7BEAE66488}"/>
              </a:ext>
            </a:extLst>
          </p:cNvPr>
          <p:cNvSpPr/>
          <p:nvPr/>
        </p:nvSpPr>
        <p:spPr>
          <a:xfrm>
            <a:off x="527304" y="502920"/>
            <a:ext cx="496824" cy="4846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/home/claude/ppt/icons/box.png">
            <a:extLst>
              <a:ext uri="{FF2B5EF4-FFF2-40B4-BE49-F238E27FC236}">
                <a16:creationId xmlns:a16="http://schemas.microsoft.com/office/drawing/2014/main" id="{DCB8A1A5-023D-6B83-ABE0-7E1DDF5B2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32" y="612648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24128" y="43891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4434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100" dirty="0"/>
          </a:p>
        </p:txBody>
      </p:sp>
      <p:pic>
        <p:nvPicPr>
          <p:cNvPr id="6" name="Image 0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28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396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On-Time Delivery %</a:t>
            </a:r>
            <a:endParaRPr lang="en-US" sz="1250" dirty="0"/>
          </a:p>
        </p:txBody>
      </p:sp>
      <p:pic>
        <p:nvPicPr>
          <p:cNvPr id="8" name="Image 1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61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883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Deliveries Count</a:t>
            </a:r>
            <a:endParaRPr lang="en-US" sz="1250" dirty="0"/>
          </a:p>
        </p:txBody>
      </p:sp>
      <p:pic>
        <p:nvPicPr>
          <p:cNvPr id="10" name="Image 2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012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2369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Delivery Lead Time</a:t>
            </a:r>
            <a:endParaRPr lang="en-US" sz="1250" dirty="0"/>
          </a:p>
        </p:txBody>
      </p:sp>
      <p:pic>
        <p:nvPicPr>
          <p:cNvPr id="12" name="Image 3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587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78561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Fulfillment Rate</a:t>
            </a:r>
            <a:endParaRPr lang="en-US" sz="1250" dirty="0"/>
          </a:p>
        </p:txBody>
      </p:sp>
      <p:pic>
        <p:nvPicPr>
          <p:cNvPr id="14" name="Image 4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43342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Delivery Performance</a:t>
            </a:r>
            <a:endParaRPr lang="en-US" sz="1250" dirty="0"/>
          </a:p>
        </p:txBody>
      </p:sp>
      <p:pic>
        <p:nvPicPr>
          <p:cNvPr id="16" name="Image 5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560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48828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Delivery Trends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892040" y="1600200"/>
            <a:ext cx="6720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892040" y="5029200"/>
            <a:ext cx="6720840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3" name="Text 13"/>
          <p:cNvSpPr/>
          <p:nvPr/>
        </p:nvSpPr>
        <p:spPr>
          <a:xfrm>
            <a:off x="553212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Georgia" pitchFamily="34" charset="0"/>
              </a:rPr>
              <a:t>Business Benefit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138928" y="5486400"/>
            <a:ext cx="647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Improves logistical delivery efficiency, isolates regional bottlenecks, and directly enhances end-customer satisfaction.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A7CF57C-706B-383F-1105-61AA18F71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39" y="1600200"/>
            <a:ext cx="6720839" cy="3246120"/>
          </a:xfrm>
          <a:prstGeom prst="rect">
            <a:avLst/>
          </a:prstGeom>
        </p:spPr>
      </p:pic>
      <p:sp>
        <p:nvSpPr>
          <p:cNvPr id="19" name="Shape 13">
            <a:extLst>
              <a:ext uri="{FF2B5EF4-FFF2-40B4-BE49-F238E27FC236}">
                <a16:creationId xmlns:a16="http://schemas.microsoft.com/office/drawing/2014/main" id="{A95EC288-9395-EE77-63F7-7403CD716C26}"/>
              </a:ext>
            </a:extLst>
          </p:cNvPr>
          <p:cNvSpPr/>
          <p:nvPr/>
        </p:nvSpPr>
        <p:spPr>
          <a:xfrm>
            <a:off x="5138928" y="5074920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0" name="Image 3" descr="/home/claude/ppt/icons/star.png">
            <a:extLst>
              <a:ext uri="{FF2B5EF4-FFF2-40B4-BE49-F238E27FC236}">
                <a16:creationId xmlns:a16="http://schemas.microsoft.com/office/drawing/2014/main" id="{FC61444A-22F3-CB5B-47A9-215374A33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84" y="5180076"/>
            <a:ext cx="246888" cy="246888"/>
          </a:xfrm>
          <a:prstGeom prst="rect">
            <a:avLst/>
          </a:prstGeom>
        </p:spPr>
      </p:pic>
      <p:sp>
        <p:nvSpPr>
          <p:cNvPr id="2" name="Shape 11">
            <a:extLst>
              <a:ext uri="{FF2B5EF4-FFF2-40B4-BE49-F238E27FC236}">
                <a16:creationId xmlns:a16="http://schemas.microsoft.com/office/drawing/2014/main" id="{B9DFCFAB-884B-730A-D372-0E307DAF92BD}"/>
              </a:ext>
            </a:extLst>
          </p:cNvPr>
          <p:cNvSpPr/>
          <p:nvPr/>
        </p:nvSpPr>
        <p:spPr>
          <a:xfrm>
            <a:off x="548640" y="484632"/>
            <a:ext cx="512064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home/claude/ppt/icons/clock.png">
            <a:extLst>
              <a:ext uri="{FF2B5EF4-FFF2-40B4-BE49-F238E27FC236}">
                <a16:creationId xmlns:a16="http://schemas.microsoft.com/office/drawing/2014/main" id="{CD645B77-3335-8F44-5105-C4D4A1C0B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7" y="594359"/>
            <a:ext cx="325041" cy="325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23544" y="42062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4434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100" dirty="0"/>
          </a:p>
        </p:txBody>
      </p:sp>
      <p:pic>
        <p:nvPicPr>
          <p:cNvPr id="6" name="Image 0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28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396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Supplier Scorecard</a:t>
            </a:r>
            <a:endParaRPr lang="en-US" sz="1250" dirty="0"/>
          </a:p>
        </p:txBody>
      </p:sp>
      <p:pic>
        <p:nvPicPr>
          <p:cNvPr id="8" name="Image 1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61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883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Supplier Rating</a:t>
            </a:r>
            <a:endParaRPr lang="en-US" sz="1250" dirty="0"/>
          </a:p>
        </p:txBody>
      </p:sp>
      <p:pic>
        <p:nvPicPr>
          <p:cNvPr id="10" name="Image 2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012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2369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Order Fulfillment %</a:t>
            </a:r>
            <a:endParaRPr lang="en-US" sz="1250" dirty="0"/>
          </a:p>
        </p:txBody>
      </p:sp>
      <p:pic>
        <p:nvPicPr>
          <p:cNvPr id="12" name="Image 3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587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78561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Performance</a:t>
            </a:r>
            <a:endParaRPr lang="en-US" sz="1250" dirty="0"/>
          </a:p>
        </p:txBody>
      </p:sp>
      <p:pic>
        <p:nvPicPr>
          <p:cNvPr id="14" name="Image 4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43342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Supplier Reliability</a:t>
            </a:r>
            <a:endParaRPr lang="en-US" sz="1250" dirty="0"/>
          </a:p>
        </p:txBody>
      </p:sp>
      <p:pic>
        <p:nvPicPr>
          <p:cNvPr id="16" name="Image 5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560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48828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Supplier Ranking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892040" y="1600200"/>
            <a:ext cx="6720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pic>
        <p:nvPicPr>
          <p:cNvPr id="20" name="Image 6" descr="/home/claude/ppt/shots/suppl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81912"/>
            <a:ext cx="6903720" cy="324612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892040" y="5029200"/>
            <a:ext cx="6720840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3" name="Text 13"/>
          <p:cNvSpPr/>
          <p:nvPr/>
        </p:nvSpPr>
        <p:spPr>
          <a:xfrm>
            <a:off x="553212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Georgia" pitchFamily="34" charset="0"/>
              </a:rPr>
              <a:t>Business Benefit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138928" y="5486400"/>
            <a:ext cx="647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Helps explicitly identify top-performing suppliers, mitigate risk, and improves strategic procurement decisions.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2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D4EBC286-562C-8471-2975-E527A2C2929D}"/>
              </a:ext>
            </a:extLst>
          </p:cNvPr>
          <p:cNvSpPr/>
          <p:nvPr/>
        </p:nvSpPr>
        <p:spPr>
          <a:xfrm>
            <a:off x="5138928" y="5088636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2" name="Image 3" descr="/home/claude/ppt/icons/star.png">
            <a:extLst>
              <a:ext uri="{FF2B5EF4-FFF2-40B4-BE49-F238E27FC236}">
                <a16:creationId xmlns:a16="http://schemas.microsoft.com/office/drawing/2014/main" id="{86BD44A6-B888-7F30-F931-165DF32DF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84" y="5193792"/>
            <a:ext cx="246888" cy="246888"/>
          </a:xfrm>
          <a:prstGeom prst="rect">
            <a:avLst/>
          </a:prstGeom>
        </p:spPr>
      </p:pic>
      <p:sp>
        <p:nvSpPr>
          <p:cNvPr id="2" name="Shape 15">
            <a:extLst>
              <a:ext uri="{FF2B5EF4-FFF2-40B4-BE49-F238E27FC236}">
                <a16:creationId xmlns:a16="http://schemas.microsoft.com/office/drawing/2014/main" id="{59CD2003-644C-EFA4-429F-39EB0CF35B95}"/>
              </a:ext>
            </a:extLst>
          </p:cNvPr>
          <p:cNvSpPr/>
          <p:nvPr/>
        </p:nvSpPr>
        <p:spPr>
          <a:xfrm>
            <a:off x="457200" y="502920"/>
            <a:ext cx="466344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/home/claude/ppt/icons/handshake.png">
            <a:extLst>
              <a:ext uri="{FF2B5EF4-FFF2-40B4-BE49-F238E27FC236}">
                <a16:creationId xmlns:a16="http://schemas.microsoft.com/office/drawing/2014/main" id="{73AA185D-FAF2-C4F4-D314-65D364A1D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94360"/>
            <a:ext cx="35661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66893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4434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100" dirty="0"/>
          </a:p>
        </p:txBody>
      </p:sp>
      <p:pic>
        <p:nvPicPr>
          <p:cNvPr id="6" name="Image 0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28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396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Space Utilization</a:t>
            </a:r>
            <a:endParaRPr lang="en-US" sz="1250" dirty="0"/>
          </a:p>
        </p:txBody>
      </p:sp>
      <p:pic>
        <p:nvPicPr>
          <p:cNvPr id="8" name="Image 1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61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883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Volume Analysis</a:t>
            </a:r>
            <a:endParaRPr lang="en-US" sz="1250" dirty="0"/>
          </a:p>
        </p:txBody>
      </p:sp>
      <p:pic>
        <p:nvPicPr>
          <p:cNvPr id="10" name="Image 2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012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2369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Efficiency %</a:t>
            </a:r>
            <a:endParaRPr lang="en-US" sz="1250" dirty="0"/>
          </a:p>
        </p:txBody>
      </p:sp>
      <p:pic>
        <p:nvPicPr>
          <p:cNvPr id="12" name="Image 3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587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78561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Capacity Planning</a:t>
            </a:r>
            <a:endParaRPr lang="en-US" sz="1250" dirty="0"/>
          </a:p>
        </p:txBody>
      </p:sp>
      <p:pic>
        <p:nvPicPr>
          <p:cNvPr id="14" name="Image 4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43342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Metrics</a:t>
            </a:r>
            <a:endParaRPr lang="en-US" sz="1250" dirty="0"/>
          </a:p>
        </p:txBody>
      </p:sp>
      <p:pic>
        <p:nvPicPr>
          <p:cNvPr id="16" name="Image 5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560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48828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Count Accuracy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892040" y="1600200"/>
            <a:ext cx="6720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</p:sp>
      <p:pic>
        <p:nvPicPr>
          <p:cNvPr id="20" name="Image 6" descr="/home/claude/ppt/shots/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00200"/>
            <a:ext cx="6903720" cy="3246119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892040" y="5029200"/>
            <a:ext cx="6720840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3" name="Text 13"/>
          <p:cNvSpPr/>
          <p:nvPr/>
        </p:nvSpPr>
        <p:spPr>
          <a:xfrm>
            <a:off x="553212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Georgia" pitchFamily="34" charset="0"/>
              </a:rPr>
              <a:t>Business Benefit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138928" y="5486400"/>
            <a:ext cx="647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Maximizes internal warehouse efficiency, prevents overloading, and optimizes physical resource utilization.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BE942B85-2FA6-E375-220E-6E1ECE393ACE}"/>
              </a:ext>
            </a:extLst>
          </p:cNvPr>
          <p:cNvSpPr/>
          <p:nvPr/>
        </p:nvSpPr>
        <p:spPr>
          <a:xfrm>
            <a:off x="5133975" y="5088636"/>
            <a:ext cx="457200" cy="457200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29" name="Image 3" descr="/home/claude/ppt/icons/star.png">
            <a:extLst>
              <a:ext uri="{FF2B5EF4-FFF2-40B4-BE49-F238E27FC236}">
                <a16:creationId xmlns:a16="http://schemas.microsoft.com/office/drawing/2014/main" id="{7EB156A3-0A63-4539-E66D-6916AEE3C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131" y="5193792"/>
            <a:ext cx="246888" cy="246888"/>
          </a:xfrm>
          <a:prstGeom prst="rect">
            <a:avLst/>
          </a:prstGeom>
        </p:spPr>
      </p:pic>
      <p:sp>
        <p:nvSpPr>
          <p:cNvPr id="2" name="Shape 19">
            <a:extLst>
              <a:ext uri="{FF2B5EF4-FFF2-40B4-BE49-F238E27FC236}">
                <a16:creationId xmlns:a16="http://schemas.microsoft.com/office/drawing/2014/main" id="{2557EA52-2662-8A16-07B6-F8084A7F803D}"/>
              </a:ext>
            </a:extLst>
          </p:cNvPr>
          <p:cNvSpPr/>
          <p:nvPr/>
        </p:nvSpPr>
        <p:spPr>
          <a:xfrm>
            <a:off x="547116" y="526878"/>
            <a:ext cx="595884" cy="544068"/>
          </a:xfrm>
          <a:prstGeom prst="ellipse">
            <a:avLst/>
          </a:prstGeom>
          <a:solidFill>
            <a:srgbClr val="E7F4F2"/>
          </a:solidFill>
          <a:ln/>
        </p:spPr>
      </p:sp>
      <p:pic>
        <p:nvPicPr>
          <p:cNvPr id="19" name="Image 5" descr="/home/claude/ppt/icons/warehouse.png">
            <a:extLst>
              <a:ext uri="{FF2B5EF4-FFF2-40B4-BE49-F238E27FC236}">
                <a16:creationId xmlns:a16="http://schemas.microsoft.com/office/drawing/2014/main" id="{CE383DDB-7AE4-C422-D329-2207E9FA3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51" y="600030"/>
            <a:ext cx="321777" cy="3217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8346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Glimpse of Dashboard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89704" y="1600200"/>
            <a:ext cx="3355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76656" y="4178808"/>
            <a:ext cx="3355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 Analytics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489704" y="4178808"/>
            <a:ext cx="3355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Analytics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403336" y="4872431"/>
            <a:ext cx="3483864" cy="106070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27" name="Text 19"/>
          <p:cNvSpPr/>
          <p:nvPr/>
        </p:nvSpPr>
        <p:spPr>
          <a:xfrm>
            <a:off x="8403336" y="5059883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Built end-to-end in Power BI on the DataCo Global Supply Chain dataset from raw CSVs to executive-ready insight.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30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944492-6020-241B-A93B-39C0EADE5350}"/>
              </a:ext>
            </a:extLst>
          </p:cNvPr>
          <p:cNvSpPr txBox="1"/>
          <p:nvPr/>
        </p:nvSpPr>
        <p:spPr>
          <a:xfrm>
            <a:off x="8302752" y="924865"/>
            <a:ext cx="3483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2A9D8F"/>
                </a:solidFill>
                <a:latin typeface="Georgia" pitchFamily="34" charset="0"/>
              </a:rPr>
              <a:t>Interactive Features of Dashboard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630B8D-18A7-709A-4013-974ED887E24C}"/>
              </a:ext>
            </a:extLst>
          </p:cNvPr>
          <p:cNvSpPr txBox="1"/>
          <p:nvPr/>
        </p:nvSpPr>
        <p:spPr>
          <a:xfrm>
            <a:off x="8302752" y="1512645"/>
            <a:ext cx="34838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Slicers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Drill-Down 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Drill-Through 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Tooltips 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Cross-Filtering  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Navigation Buttons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Dynamic KPI Cards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Time Period Toggle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dirty="0"/>
              <a:t>Reset Filters</a:t>
            </a:r>
          </a:p>
          <a:p>
            <a:pPr marL="285750" indent="-285750">
              <a:spcBef>
                <a:spcPts val="1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2" name="Image 6" descr="/home/claude/ppt/shots/warehouse.png">
            <a:extLst>
              <a:ext uri="{FF2B5EF4-FFF2-40B4-BE49-F238E27FC236}">
                <a16:creationId xmlns:a16="http://schemas.microsoft.com/office/drawing/2014/main" id="{7EF84D5E-F92C-97F2-3E52-1023F9AC4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53896"/>
            <a:ext cx="7534656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Discovered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385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6334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 centralized visibility across the entire global supply chain.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8288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93852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66160" y="26334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Turnover metrics actively highlight fast- and slow-moving products for better procurement.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8288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93852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0" y="26334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analytics drastically improve on-time shipment performance visibility.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645920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9235440" y="18288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ppt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193852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35440" y="26334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scorecards provide empirical data to support vendor evaluation and negotiation.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950208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41330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ppt/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24281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Reduction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 analysis successfully identifies immediate cost-saving opportunities in routing.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3950208"/>
            <a:ext cx="2651760" cy="2103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3566160" y="41330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ppt/icons/warehou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424281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6616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66160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KPIs improve space utilization and daily operational efficiency.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17920" y="3950208"/>
            <a:ext cx="2651760" cy="21031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5" name="Shape 27"/>
          <p:cNvSpPr/>
          <p:nvPr/>
        </p:nvSpPr>
        <p:spPr>
          <a:xfrm>
            <a:off x="6400800" y="4133088"/>
            <a:ext cx="438912" cy="438912"/>
          </a:xfrm>
          <a:prstGeom prst="ellipse">
            <a:avLst/>
          </a:prstGeom>
          <a:solidFill>
            <a:srgbClr val="1F8478"/>
          </a:solidFill>
          <a:ln/>
        </p:spPr>
      </p:sp>
      <p:pic>
        <p:nvPicPr>
          <p:cNvPr id="36" name="Image 6" descr="/home/claude/ppt/icons/chart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4242816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00800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Executive dashboard enables faster, highly confident data-driven decisions.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proposed Power BI solution successfully integrates inventory, supplier, transportation, warehouse, and delivery data into a unified dashboard.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5488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1148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significantly enhances operational visibility, improves leadership decision-making, reduces complex logistics costs, and supports highly efficient modern supply chain management.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94960" cy="44348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1" name="Image 1" descr="/home/claude/ppt/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700" dirty="0"/>
          </a:p>
        </p:txBody>
      </p:sp>
      <p:pic>
        <p:nvPicPr>
          <p:cNvPr id="13" name="Image 2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53288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demand forecasting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5" name="Image 3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01752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2953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IoT-enabled warehouse monitoring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7" name="Image 4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50215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03720" y="34381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ERP integration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9" name="Image 5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986784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03720" y="39227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logistics analytics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21" name="Image 6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471416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03720" y="4407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dashboard application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23" name="Image 7" descr="/home/claude/ppt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9560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03720" y="4892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alerts and push notifications</a:t>
            </a:r>
            <a:endParaRPr lang="en-US" sz="13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  <p:sp>
        <p:nvSpPr>
          <p:cNvPr id="27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Project Team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631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8745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Abhay Kumar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Analytics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16552" y="1874520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2631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8112" y="1874520"/>
            <a:ext cx="2441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Mahesh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93024" y="1874520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22631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44584" y="187452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Mohinish Sai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Performance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936492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9364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35478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Nitish Kumar Yadav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 Analytics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16552" y="3547872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3936492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672584" y="39364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68112" y="354787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Raghul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Analytics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93024" y="3547872"/>
            <a:ext cx="35204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44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49056" y="3936492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449056" y="39364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44584" y="354787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Vigasvel</a:t>
            </a: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b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Analytics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Supply Chain Visibility System with Optimization Analytics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  <p:sp>
        <p:nvSpPr>
          <p:cNvPr id="35" name="Infosys Springboard Badge"/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560320"/>
            <a:ext cx="116014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005A9E"/>
                </a:solidFill>
                <a:latin typeface="Segoe UI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720A0-B2DF-7703-B3D8-8E4FD3A864FB}"/>
              </a:ext>
            </a:extLst>
          </p:cNvPr>
          <p:cNvSpPr txBox="1"/>
          <p:nvPr/>
        </p:nvSpPr>
        <p:spPr>
          <a:xfrm>
            <a:off x="4872499" y="3429000"/>
            <a:ext cx="2880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605E5C"/>
                </a:solidFill>
                <a:effectLst/>
                <a:latin typeface="Segoe UI" panose="020B0502040204020203" pitchFamily="34" charset="0"/>
              </a:rPr>
              <a:t>Questions &amp; Answers</a:t>
            </a:r>
            <a:endParaRPr lang="en-IN" dirty="0"/>
          </a:p>
        </p:txBody>
      </p:sp>
      <p:sp>
        <p:nvSpPr>
          <p:cNvPr id="5" name="Infosys Springboard Badge">
            <a:extLst>
              <a:ext uri="{FF2B5EF4-FFF2-40B4-BE49-F238E27FC236}">
                <a16:creationId xmlns:a16="http://schemas.microsoft.com/office/drawing/2014/main" id="{8DA41B5C-D615-AFBC-4180-022BAB5C64C3}"/>
              </a:ext>
            </a:extLst>
          </p:cNvPr>
          <p:cNvSpPr/>
          <p:nvPr/>
        </p:nvSpPr>
        <p:spPr>
          <a:xfrm>
            <a:off x="9677400" y="2286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  <a:effectLst>
            <a:outerShdw blurRad="40000" dist="20000" dir="5400000" rotWithShape="0">
              <a:srgbClr val="000000">
                <a:alpha val="20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Georgia" pitchFamily="34" charset="0"/>
              </a:rPr>
              <a:t>Infosys Springboard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AF09505-C256-35FE-A8D4-A8DC6E0B04CE}"/>
              </a:ext>
            </a:extLst>
          </p:cNvPr>
          <p:cNvSpPr/>
          <p:nvPr/>
        </p:nvSpPr>
        <p:spPr>
          <a:xfrm>
            <a:off x="-1371600" y="-1645920"/>
            <a:ext cx="3657600" cy="36576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BD694D50-6458-36A8-DA19-74E6FE9B5358}"/>
              </a:ext>
            </a:extLst>
          </p:cNvPr>
          <p:cNvSpPr/>
          <p:nvPr/>
        </p:nvSpPr>
        <p:spPr>
          <a:xfrm>
            <a:off x="8778240" y="3931920"/>
            <a:ext cx="5486400" cy="5486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D3703A3-136B-6B28-0329-A67A70587F09}"/>
              </a:ext>
            </a:extLst>
          </p:cNvPr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1007</Words>
  <Application>Microsoft Office PowerPoint</Application>
  <PresentationFormat>Widescreen</PresentationFormat>
  <Paragraphs>234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Mahesh</cp:lastModifiedBy>
  <cp:revision>13</cp:revision>
  <dcterms:created xsi:type="dcterms:W3CDTF">2026-08-08T09:53:18Z</dcterms:created>
  <dcterms:modified xsi:type="dcterms:W3CDTF">2026-08-16T10:36:01Z</dcterms:modified>
</cp:coreProperties>
</file>